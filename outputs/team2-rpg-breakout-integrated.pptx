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5a7bf70954460" /><Relationship Type="http://schemas.openxmlformats.org/officeDocument/2006/relationships/extended-properties" Target="/docProps/app.xml" Id="R456b85f6f1514ebd" /><Relationship Type="http://schemas.openxmlformats.org/officeDocument/2006/relationships/officeDocument" Target="/ppt/presentation.xml" Id="R0373afa49902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bed0d3718414a"/>
  </p:sldMasterIdLst>
  <p:notesMasterIdLst>
    <p:notesMasterId xmlns:r="http://schemas.openxmlformats.org/officeDocument/2006/relationships" r:id="Racf2d7e172a74afd"/>
  </p:notesMasterIdLst>
  <p:sldIdLst>
    <p:sldId xmlns:r="http://schemas.openxmlformats.org/officeDocument/2006/relationships" id="256" r:id="R021b70a4c1a14804"/>
    <p:sldId xmlns:r="http://schemas.openxmlformats.org/officeDocument/2006/relationships" id="257" r:id="R029f21001d65485e"/>
    <p:sldId xmlns:r="http://schemas.openxmlformats.org/officeDocument/2006/relationships" id="258" r:id="R26687addb39c4e13"/>
    <p:sldId xmlns:r="http://schemas.openxmlformats.org/officeDocument/2006/relationships" id="259" r:id="Ra798ae80bd1644dc"/>
    <p:sldId xmlns:r="http://schemas.openxmlformats.org/officeDocument/2006/relationships" id="260" r:id="Rd598c4028a3c4eb0"/>
    <p:sldId xmlns:r="http://schemas.openxmlformats.org/officeDocument/2006/relationships" id="261" r:id="Rd03cc70da9ea4fa3"/>
    <p:sldId xmlns:r="http://schemas.openxmlformats.org/officeDocument/2006/relationships" id="262" r:id="Rbfb47899ce21494e"/>
    <p:sldId xmlns:r="http://schemas.openxmlformats.org/officeDocument/2006/relationships" id="263" r:id="R5b02d64a3bb846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2bfc28d7cd4189" /><Relationship Type="http://schemas.openxmlformats.org/officeDocument/2006/relationships/slideMaster" Target="/ppt/slideMasters/slideMaster1.xml" Id="R459bed0d3718414a" /><Relationship Type="http://schemas.openxmlformats.org/officeDocument/2006/relationships/notesMaster" Target="/ppt/notesMasters/notesMaster1.xml" Id="Racf2d7e172a74afd" /><Relationship Type="http://schemas.openxmlformats.org/officeDocument/2006/relationships/presProps" Target="/ppt/presProps.xml" Id="R2806df3d9c6f4128" /><Relationship Type="http://schemas.openxmlformats.org/officeDocument/2006/relationships/tableStyles" Target="/ppt/tableStyles.xml" Id="R43048d821ded4cfa" /><Relationship Type="http://schemas.openxmlformats.org/officeDocument/2006/relationships/slide" Target="/ppt/slides/slide1.xml" Id="R021b70a4c1a14804" /><Relationship Type="http://schemas.openxmlformats.org/officeDocument/2006/relationships/slide" Target="/ppt/slides/slide2.xml" Id="R029f21001d65485e" /><Relationship Type="http://schemas.openxmlformats.org/officeDocument/2006/relationships/slide" Target="/ppt/slides/slide3.xml" Id="R26687addb39c4e13" /><Relationship Type="http://schemas.openxmlformats.org/officeDocument/2006/relationships/slide" Target="/ppt/slides/slide4.xml" Id="Ra798ae80bd1644dc" /><Relationship Type="http://schemas.openxmlformats.org/officeDocument/2006/relationships/slide" Target="/ppt/slides/slide5.xml" Id="Rd598c4028a3c4eb0" /><Relationship Type="http://schemas.openxmlformats.org/officeDocument/2006/relationships/slide" Target="/ppt/slides/slide6.xml" Id="Rd03cc70da9ea4fa3" /><Relationship Type="http://schemas.openxmlformats.org/officeDocument/2006/relationships/slide" Target="/ppt/slides/slide7.xml" Id="Rbfb47899ce21494e" /><Relationship Type="http://schemas.openxmlformats.org/officeDocument/2006/relationships/slide" Target="/ppt/slides/slide8.xml" Id="R5b02d64a3bb846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b05992bd864b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ae2dd4c654d40" /><Relationship Type="http://schemas.openxmlformats.org/officeDocument/2006/relationships/notesMaster" Target="/ppt/notesMasters/notesMaster1.xml" Id="Ra3ac762bfdc042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424e827874717" /><Relationship Type="http://schemas.openxmlformats.org/officeDocument/2006/relationships/notesMaster" Target="/ppt/notesMasters/notesMaster1.xml" Id="R49111dacaa3041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a08c4e31e04581" /><Relationship Type="http://schemas.openxmlformats.org/officeDocument/2006/relationships/notesMaster" Target="/ppt/notesMasters/notesMaster1.xml" Id="Rd64aaa382ec646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f60cc3969840e2" /><Relationship Type="http://schemas.openxmlformats.org/officeDocument/2006/relationships/notesMaster" Target="/ppt/notesMasters/notesMaster1.xml" Id="Rf1d06c7a0309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e6774ca8b64545" /><Relationship Type="http://schemas.openxmlformats.org/officeDocument/2006/relationships/notesMaster" Target="/ppt/notesMasters/notesMaster1.xml" Id="Reb2f3329633f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a05bcd0f254836" /><Relationship Type="http://schemas.openxmlformats.org/officeDocument/2006/relationships/notesMaster" Target="/ppt/notesMasters/notesMaster1.xml" Id="R92d3d3895e44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2fee9d6be4181" /><Relationship Type="http://schemas.openxmlformats.org/officeDocument/2006/relationships/notesMaster" Target="/ppt/notesMasters/notesMaster1.xml" Id="R3ff787b8b302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8a43dabcd84440" /><Relationship Type="http://schemas.openxmlformats.org/officeDocument/2006/relationships/notesMaster" Target="/ppt/notesMasters/notesMaster1.xml" Id="Ra13b06c03f87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69182f794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c70cab0d44305" /><Relationship Type="http://schemas.openxmlformats.org/officeDocument/2006/relationships/slideLayout" Target="/ppt/slideLayouts/slideLayout1.xml" Id="R07b5271875bb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5271875bb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cf0f6e41a4fb3" /><Relationship Type="http://schemas.openxmlformats.org/officeDocument/2006/relationships/image" Target="/ppt/media/image.png" Id="Re34de81e284041f5" /><Relationship Type="http://schemas.openxmlformats.org/officeDocument/2006/relationships/notesSlide" Target="/ppt/notesSlides/notesSlide1.xml" Id="R0c259fe6f1a2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7b87a25784e8c" /><Relationship Type="http://schemas.openxmlformats.org/officeDocument/2006/relationships/image" Target="/ppt/media/image2.png" Id="R427bb62e46ed4e33" /><Relationship Type="http://schemas.openxmlformats.org/officeDocument/2006/relationships/notesSlide" Target="/ppt/notesSlides/notesSlide2.xml" Id="R71c5a0e9e90a4f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e3209ca6a42c7" /><Relationship Type="http://schemas.openxmlformats.org/officeDocument/2006/relationships/image" Target="/ppt/media/image3.png" Id="R18d6b0b2a1f0409a" /><Relationship Type="http://schemas.openxmlformats.org/officeDocument/2006/relationships/image" Target="/ppt/media/image4.png" Id="R5dc561562e944146" /><Relationship Type="http://schemas.openxmlformats.org/officeDocument/2006/relationships/image" Target="/ppt/media/image5.png" Id="R0b86c21d860b4030" /><Relationship Type="http://schemas.openxmlformats.org/officeDocument/2006/relationships/image" Target="/ppt/media/image6.png" Id="R0b04d38e255145cd" /><Relationship Type="http://schemas.openxmlformats.org/officeDocument/2006/relationships/notesSlide" Target="/ppt/notesSlides/notesSlide3.xml" Id="Ra33abec20596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fafd726349bc" /><Relationship Type="http://schemas.openxmlformats.org/officeDocument/2006/relationships/image" Target="/ppt/media/image7.png" Id="R091b17d6dfe94243" /><Relationship Type="http://schemas.openxmlformats.org/officeDocument/2006/relationships/image" Target="/ppt/media/image8.png" Id="R996e44454a264f9e" /><Relationship Type="http://schemas.openxmlformats.org/officeDocument/2006/relationships/image" Target="/ppt/media/image9.png" Id="R729653c338ca4895" /><Relationship Type="http://schemas.openxmlformats.org/officeDocument/2006/relationships/image" Target="/ppt/media/image10.png" Id="Rcf32279365a0497f" /><Relationship Type="http://schemas.openxmlformats.org/officeDocument/2006/relationships/notesSlide" Target="/ppt/notesSlides/notesSlide4.xml" Id="Rcd956834925744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1c166a71e4c86" /><Relationship Type="http://schemas.openxmlformats.org/officeDocument/2006/relationships/image" Target="/ppt/media/image11.png" Id="Rfc5b2cbeddec41f7" /><Relationship Type="http://schemas.openxmlformats.org/officeDocument/2006/relationships/image" Target="/ppt/media/image12.png" Id="R69b6fc1809d946a1" /><Relationship Type="http://schemas.openxmlformats.org/officeDocument/2006/relationships/image" Target="/ppt/media/image13.png" Id="R2468a18d2e1d4255" /><Relationship Type="http://schemas.openxmlformats.org/officeDocument/2006/relationships/image" Target="/ppt/media/image14.png" Id="Rd1a7adf9620f4ede" /><Relationship Type="http://schemas.openxmlformats.org/officeDocument/2006/relationships/notesSlide" Target="/ppt/notesSlides/notesSlide5.xml" Id="R55667996c74947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04c8616ef4c9d" /><Relationship Type="http://schemas.openxmlformats.org/officeDocument/2006/relationships/image" Target="/ppt/media/image15.png" Id="R856dc8333f8b477a" /><Relationship Type="http://schemas.openxmlformats.org/officeDocument/2006/relationships/notesSlide" Target="/ppt/notesSlides/notesSlide6.xml" Id="Rfcfd22180ed1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68c2d3d644b8" /><Relationship Type="http://schemas.openxmlformats.org/officeDocument/2006/relationships/image" Target="/ppt/media/image16.png" Id="R6ece6676c54243f0" /><Relationship Type="http://schemas.openxmlformats.org/officeDocument/2006/relationships/notesSlide" Target="/ppt/notesSlides/notesSlide7.xml" Id="R7ecc4aef7e31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e6da690df4747" /><Relationship Type="http://schemas.openxmlformats.org/officeDocument/2006/relationships/image" Target="/ppt/media/image17.png" Id="R3d800e1729d94596" /><Relationship Type="http://schemas.openxmlformats.org/officeDocument/2006/relationships/image" Target="/ppt/media/image.jpeg" Id="Rc97aab18e0f54ac5" /><Relationship Type="http://schemas.openxmlformats.org/officeDocument/2006/relationships/image" Target="/ppt/media/image18.png" Id="Rb8a7725e47cd4bef" /><Relationship Type="http://schemas.openxmlformats.org/officeDocument/2006/relationships/notesSlide" Target="/ppt/notesSlides/notesSlide8.xml" Id="Ra657b5870abf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de81e284041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48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bb62e46ed4e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2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6b0b2a1f0409a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D6AD8-0346-4285-8519-4F702794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A1ED3-B947-41A2-898A-DE8E821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E5727-1A59-4B79-9D4E-68D48B6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69703-7D34-460B-8CD3-8D684948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97F9B-589A-4089-A202-F7E188A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38350"/>
            <a:ext cx="590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8EB"/>
                </a:solidFill>
              </a:defRPr>
            </a:pPr>
            <a:r>
              <a:rPr sz="1875" b="0">
                <a:solidFill>
                  <a:srgbClr val="FFF8EB"/>
                </a:solidFill>
              </a:rPr>
              <a:t>• 벽돌깨기</a:t>
            </a:r>
          </a:p>
          <a:p xmlns:a="http://schemas.openxmlformats.org/drawingml/2006/main">
            <a:pPr algn="l">
              <a:defRPr sz="1875" b="0">
                <a:solidFill>
                  <a:srgbClr val="FFF8EB"/>
                </a:solidFill>
              </a:defRPr>
            </a:pPr>
            <a:r>
              <a:rPr sz="1875" b="0">
                <a:solidFill>
                  <a:srgbClr val="FFF8EB"/>
                </a:solidFill>
              </a:rPr>
              <a:t>• 벽돌 대신 몬스터를 잡으면 어떻냐는 아이디어</a:t>
            </a:r>
          </a:p>
          <a:p xmlns:a="http://schemas.openxmlformats.org/drawingml/2006/main">
            <a:pPr algn="l">
              <a:defRPr sz="1875" b="0">
                <a:solidFill>
                  <a:srgbClr val="FFF8EB"/>
                </a:solidFill>
              </a:defRPr>
            </a:pPr>
            <a:r>
              <a:rPr sz="1875" b="0">
                <a:solidFill>
                  <a:srgbClr val="FFF8EB"/>
                </a:solidFill>
              </a:rPr>
              <a:t>  ◦ → RPG 요소로 발전시킴</a:t>
            </a:r>
          </a:p>
          <a:p xmlns:a="http://schemas.openxmlformats.org/drawingml/2006/main">
            <a:pPr algn="l">
              <a:defRPr sz="1875" b="0">
                <a:solidFill>
                  <a:srgbClr val="FFF8EB"/>
                </a:solidFill>
              </a:defRPr>
            </a:pPr>
            <a:r>
              <a:rPr sz="1875" b="0">
                <a:solidFill>
                  <a:srgbClr val="FFF8EB"/>
                </a:solidFill>
              </a:rPr>
              <a:t>  ◦ 경험치, 스탯 강화 등의 성장요소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561562e944146"/>
          <a:stretch xmlns:a="http://schemas.openxmlformats.org/drawingml/2006/main"/>
        </p:blipFill>
        <p:spPr>
          <a:xfrm xmlns:a="http://schemas.openxmlformats.org/drawingml/2006/main">
            <a:off x="8096250" y="247650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6c21d860b4030"/>
          <a:stretch xmlns:a="http://schemas.openxmlformats.org/drawingml/2006/main"/>
        </p:blipFill>
        <p:spPr>
          <a:xfrm xmlns:a="http://schemas.openxmlformats.org/drawingml/2006/main">
            <a:off x="7239000" y="3714750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4d38e255145cd"/>
          <a:stretch xmlns:a="http://schemas.openxmlformats.org/drawingml/2006/main"/>
        </p:blipFill>
        <p:spPr>
          <a:xfrm xmlns:a="http://schemas.openxmlformats.org/drawingml/2006/main">
            <a:off x="8872829" y="1714500"/>
            <a:ext cx="1399592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84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b17d6dfe94243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95F0D-CF4F-4718-8705-04282F8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A3CB0-ACC1-4C62-A37A-787CCC29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DF6F-2376-4F71-8F3C-8545D700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98082-C9A9-420A-A9FC-139DB6F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기획 구체화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18565-6332-4C0E-89F3-16DFB794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8EB"/>
                </a:solidFill>
              </a:defRPr>
            </a:pPr>
            <a:r>
              <a:rPr sz="1575" b="0">
                <a:solidFill>
                  <a:srgbClr val="FFF8EB"/>
                </a:solidFill>
              </a:rPr>
              <a:t>• 지형지물과 그 위의 몬스터가 스크롤 되어</a:t>
            </a:r>
          </a:p>
          <a:p xmlns:a="http://schemas.openxmlformats.org/drawingml/2006/main">
            <a:pPr algn="l">
              <a:defRPr sz="1575" b="0">
                <a:solidFill>
                  <a:srgbClr val="FFF8EB"/>
                </a:solidFill>
              </a:defRPr>
            </a:pPr>
            <a:r>
              <a:rPr sz="1575" b="0">
                <a:solidFill>
                  <a:srgbClr val="FFF8EB"/>
                </a:solidFill>
              </a:rPr>
              <a:t>  화면 밑으로 내려옴.</a:t>
            </a:r>
          </a:p>
          <a:p xmlns:a="http://schemas.openxmlformats.org/drawingml/2006/main">
            <a:pPr algn="l">
              <a:defRPr sz="1575" b="0">
                <a:solidFill>
                  <a:srgbClr val="FFF8EB"/>
                </a:solidFill>
              </a:defRPr>
            </a:pPr>
            <a:r>
              <a:rPr sz="1575" b="0">
                <a:solidFill>
                  <a:srgbClr val="FFF8EB"/>
                </a:solidFill>
              </a:rPr>
              <a:t>• 공은 지형지물에 반사되며, 몬스터 접촉 시 공격함.</a:t>
            </a:r>
          </a:p>
          <a:p xmlns:a="http://schemas.openxmlformats.org/drawingml/2006/main">
            <a:pPr algn="l">
              <a:defRPr sz="1575" b="0">
                <a:solidFill>
                  <a:srgbClr val="FFF8EB"/>
                </a:solidFill>
              </a:defRPr>
            </a:pPr>
            <a:r>
              <a:rPr sz="1575" b="0">
                <a:solidFill>
                  <a:srgbClr val="FFF8EB"/>
                </a:solidFill>
              </a:rPr>
              <a:t>• 처치되지 못한 몬스터는 패들에 접촉 시</a:t>
            </a:r>
          </a:p>
          <a:p xmlns:a="http://schemas.openxmlformats.org/drawingml/2006/main">
            <a:pPr algn="l">
              <a:defRPr sz="1575" b="0">
                <a:solidFill>
                  <a:srgbClr val="FFF8EB"/>
                </a:solidFill>
              </a:defRPr>
            </a:pPr>
            <a:r>
              <a:rPr sz="1575" b="0">
                <a:solidFill>
                  <a:srgbClr val="FFF8EB"/>
                </a:solidFill>
              </a:rPr>
              <a:t>  유저의 체력을 깎음.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A5C0A-A64E-42AF-A0AB-85E9C863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19150"/>
            <a:ext cx="4000500" cy="529590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FFF5DD">
              <a:alpha val="12000"/>
            </a:srgbClr>
          </a:solidFill>
          <a:ln xmlns:a="http://schemas.openxmlformats.org/drawingml/2006/main" w="19050">
            <a:solidFill>
              <a:srgbClr val="FFD891">
                <a:alpha val="4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B89F0-AB30-4183-8EE0-ADBF12D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287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891"/>
                </a:solidFill>
              </a:defRPr>
            </a:pPr>
            <a:r>
              <a:rPr sz="1350" b="1">
                <a:solidFill>
                  <a:srgbClr val="FFD891"/>
                </a:solidFill>
              </a:rPr>
              <a:t>구조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44454a264f9e"/>
          <a:stretch xmlns:a="http://schemas.openxmlformats.org/drawingml/2006/main"/>
        </p:blipFill>
        <p:spPr>
          <a:xfrm xmlns:a="http://schemas.openxmlformats.org/drawingml/2006/main">
            <a:off x="7239000" y="1809750"/>
            <a:ext cx="781050" cy="7810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653c338ca4895"/>
          <a:stretch xmlns:a="http://schemas.openxmlformats.org/drawingml/2006/main"/>
        </p:blipFill>
        <p:spPr>
          <a:xfrm xmlns:a="http://schemas.openxmlformats.org/drawingml/2006/main">
            <a:off x="8667750" y="2095500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2279365a0497f"/>
          <a:stretch xmlns:a="http://schemas.openxmlformats.org/drawingml/2006/main"/>
        </p:blipFill>
        <p:spPr>
          <a:xfrm xmlns:a="http://schemas.openxmlformats.org/drawingml/2006/main">
            <a:off x="7920906" y="4724400"/>
            <a:ext cx="1493688" cy="762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50DBF-435E-4294-B960-3AC7DB9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1714500" cy="-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F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66342-8244-460F-B8B1-F50A5698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-1381125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FA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2855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b2cbeddec41f7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78DF1-C98F-4617-9EF9-F80B7B1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FFE25-B739-43A4-8FAE-61F9352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CAFEE-D31F-44A7-BEAE-F38FBAC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0353-8271-4EE8-B320-C7D47675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컨셉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C324B-0529-4378-BAB3-64D8AAFD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572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• 지형지물, 몬스터의 스크롤 다운 → 유저가 상승한다.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• 손오공이 근두운을 타고 상승한다로 발전시킴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• 손오공: 공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  ◦ 커비, 샐리의 법칙처럼 동그랗게 디자인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• 근두운: 패들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• 화염산 에피소드 차용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  ◦ 손오공이 화염산을 올라 우마왕을 처치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  ◦ 산을 “오른다”는 점과 게임 구조가 일치</a:t>
            </a:r>
          </a:p>
          <a:p xmlns:a="http://schemas.openxmlformats.org/drawingml/2006/main">
            <a:pPr algn="l">
              <a:defRPr sz="1425" b="0">
                <a:solidFill>
                  <a:srgbClr val="FFF8EB"/>
                </a:solidFill>
              </a:defRPr>
            </a:pPr>
            <a:r>
              <a:rPr sz="1425" b="0">
                <a:solidFill>
                  <a:srgbClr val="FFF8EB"/>
                </a:solidFill>
              </a:rPr>
              <a:t>  ◦ 보스가 명확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6fc1809d946a1"/>
          <a:stretch xmlns:a="http://schemas.openxmlformats.org/drawingml/2006/main"/>
        </p:blipFill>
        <p:spPr>
          <a:xfrm xmlns:a="http://schemas.openxmlformats.org/drawingml/2006/main">
            <a:off x="7875648" y="1762125"/>
            <a:ext cx="1393704" cy="1524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8a18d2e1d4255"/>
          <a:stretch xmlns:a="http://schemas.openxmlformats.org/drawingml/2006/main"/>
        </p:blipFill>
        <p:spPr>
          <a:xfrm xmlns:a="http://schemas.openxmlformats.org/drawingml/2006/main">
            <a:off x="9429750" y="1905000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7adf9620f4ede"/>
          <a:stretch xmlns:a="http://schemas.openxmlformats.org/drawingml/2006/main"/>
        </p:blipFill>
        <p:spPr>
          <a:xfrm xmlns:a="http://schemas.openxmlformats.org/drawingml/2006/main">
            <a:off x="8096250" y="3857625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89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dc8333f8b477a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4F3BC-E1EC-4E32-923A-F7DEA11A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582F6-8306-41E0-988B-4D597440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81414-3723-4AE5-9DB3-414D1D7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ACD11-C529-4350-8A57-4D60EDB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RPG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83B01-F59A-4AE4-9A33-7EB11C7E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6191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정석적인 RPG 구조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쫄을 잡으며 성장 → 보스와의 배틀 → Clear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단일 스테이지 구성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리소스 절약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유저의 학습에 용이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세이브 포인트를 없애 밸런스를 잡음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로그라이크처럼 폭발적인 성장 제공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인플레이션을 염두에 둔 밸런싱으로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유저의 성장 유인 제공, 성장요소 강조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65028-546C-4C79-92EE-7E6079C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38300"/>
            <a:ext cx="3000375" cy="3429000"/>
          </a:xfrm>
          <a:prstGeom xmlns:a="http://schemas.openxmlformats.org/drawingml/2006/main" prst="roundRect">
            <a:avLst>
              <a:gd name="adj" fmla="val 8254"/>
            </a:avLst>
          </a:prstGeom>
          <a:solidFill xmlns:a="http://schemas.openxmlformats.org/drawingml/2006/main">
            <a:srgbClr val="FFF5DD">
              <a:alpha val="12000"/>
            </a:srgbClr>
          </a:solidFill>
          <a:ln xmlns:a="http://schemas.openxmlformats.org/drawingml/2006/main" w="19050">
            <a:solidFill>
              <a:srgbClr val="FFD891">
                <a:alpha val="4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B18D7-D67B-4915-A7DD-B938CCD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8478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891"/>
                </a:solidFill>
              </a:defRPr>
            </a:pPr>
            <a:r>
              <a:rPr sz="1350" b="1">
                <a:solidFill>
                  <a:srgbClr val="FFD891"/>
                </a:solidFill>
              </a:rPr>
              <a:t>성장 루프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AE111-0943-4F5C-BDC2-24059A1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152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쫄 처치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성장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보스전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FFD891"/>
                </a:solidFill>
              </a:defRPr>
            </a:pPr>
            <a:r>
              <a:rPr sz="2175" b="1">
                <a:solidFill>
                  <a:srgbClr val="FFD891"/>
                </a:solidFill>
              </a:rPr>
              <a:t>Clear</a:t>
            </a:r>
          </a:p>
        </p:txBody>
      </p:sp>
    </p:spTree>
    <p:extLst>
      <p:ext uri="{BB962C8B-B14F-4D97-AF65-F5344CB8AC3E}">
        <p14:creationId xmlns:p14="http://schemas.microsoft.com/office/powerpoint/2010/main" val="456113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e6676c54243f0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AA22-FEA2-47AE-A60F-B5A0681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60A77-2B4B-485F-85E6-051202CC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655D-9590-4642-8004-68571AA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80AF-B44D-4623-B510-49B3D29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레퍼런스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932AD-F235-40E9-891D-CCDD3F4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6572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알카노이드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아이템, 스킬 등 변주 요소가 있는 고전 벽돌깨기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공이 공중에 떠 있는 동안 조작 요소가 부족함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스킬을 통해 유저 조작 개입 요소를 늘림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• 스와이프 벽돌깨기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속도감과 쾌감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◦ 폭발적인 성장을 달성했을 때</a:t>
            </a:r>
          </a:p>
          <a:p xmlns:a="http://schemas.openxmlformats.org/drawingml/2006/main">
            <a:pPr algn="l">
              <a:defRPr sz="1500" b="0">
                <a:solidFill>
                  <a:srgbClr val="FFF8EB"/>
                </a:solidFill>
              </a:defRPr>
            </a:pPr>
            <a:r>
              <a:rPr sz="1500" b="0">
                <a:solidFill>
                  <a:srgbClr val="FFF8EB"/>
                </a:solidFill>
              </a:rPr>
              <a:t>    벽돌깨기가 줄 수 있는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1F380-DA09-499D-B869-3DC4F79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2857500" cy="34290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5DD">
              <a:alpha val="12000"/>
            </a:srgbClr>
          </a:solidFill>
          <a:ln xmlns:a="http://schemas.openxmlformats.org/drawingml/2006/main" w="19050">
            <a:solidFill>
              <a:srgbClr val="FFD891">
                <a:alpha val="4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592EC-1258-4DE8-BAC0-37F39C8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891"/>
                </a:solidFill>
              </a:defRPr>
            </a:pPr>
            <a:r>
              <a:rPr sz="1350" b="1">
                <a:solidFill>
                  <a:srgbClr val="FFD891"/>
                </a:solidFill>
              </a:rPr>
              <a:t>핵심 경험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F4ED7-28CC-4E2F-99D3-E4D792A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D891"/>
                </a:solidFill>
              </a:defRPr>
            </a:pPr>
            <a:r>
              <a:rPr sz="2250" b="1">
                <a:solidFill>
                  <a:srgbClr val="FFD891"/>
                </a:solidFill>
              </a:rPr>
              <a:t>속도감</a:t>
            </a:r>
          </a:p>
          <a:p xmlns:a="http://schemas.openxmlformats.org/drawingml/2006/main">
            <a:pPr algn="ctr">
              <a:defRPr sz="2250" b="1">
                <a:solidFill>
                  <a:srgbClr val="FFD891"/>
                </a:solidFill>
              </a:defRPr>
            </a:pPr>
            <a:r>
              <a:rPr sz="2250" b="1">
                <a:solidFill>
                  <a:srgbClr val="FFD891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D891"/>
                </a:solidFill>
              </a:defRPr>
            </a:pPr>
            <a:r>
              <a:rPr sz="2250" b="1">
                <a:solidFill>
                  <a:srgbClr val="FFD891"/>
                </a:solidFill>
              </a:rPr>
              <a:t>스킬 개입</a:t>
            </a:r>
          </a:p>
          <a:p xmlns:a="http://schemas.openxmlformats.org/drawingml/2006/main">
            <a:pPr algn="ctr">
              <a:defRPr sz="2250" b="1">
                <a:solidFill>
                  <a:srgbClr val="FFD891"/>
                </a:solidFill>
              </a:defRPr>
            </a:pPr>
            <a:r>
              <a:rPr sz="2250" b="1">
                <a:solidFill>
                  <a:srgbClr val="FFD891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FFD891"/>
                </a:solidFill>
              </a:defRPr>
            </a:pPr>
            <a:r>
              <a:rPr sz="2250" b="1">
                <a:solidFill>
                  <a:srgbClr val="FFD891"/>
                </a:solidFill>
              </a:rPr>
              <a:t>폭발 성장</a:t>
            </a:r>
          </a:p>
        </p:txBody>
      </p:sp>
    </p:spTree>
    <p:extLst>
      <p:ext uri="{BB962C8B-B14F-4D97-AF65-F5344CB8AC3E}">
        <p14:creationId xmlns:p14="http://schemas.microsoft.com/office/powerpoint/2010/main" val="2019660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00e1729d94596"/>
          <a:srcRect xmlns:a="http://schemas.openxmlformats.org/drawingml/2006/main" l="0" t="34180" r="0" b="3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3C4B4-2399-4318-9735-5D71FDC1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0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8F60E-1500-420B-B862-0E721B6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8B98B"/>
                </a:solidFill>
              </a:defRPr>
            </a:pPr>
            <a:r>
              <a:rPr sz="975" b="0">
                <a:solidFill>
                  <a:srgbClr val="D8B9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E8A1-6FC5-4E7D-8A91-CE6ECF5C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DFA20-EE8B-4840-8D1A-29F5DCE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8EB"/>
                </a:solidFill>
              </a:defRPr>
            </a:pPr>
            <a:r>
              <a:rPr sz="3000" b="1">
                <a:solidFill>
                  <a:srgbClr val="FFF8EB"/>
                </a:solidFill>
              </a:rPr>
              <a:t>기획 통합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A500E-E92A-4CD5-912D-81B673B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5619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8EB"/>
                </a:solidFill>
              </a:defRPr>
            </a:pPr>
            <a:r>
              <a:rPr sz="1800" b="0">
                <a:solidFill>
                  <a:srgbClr val="FFF8EB"/>
                </a:solidFill>
              </a:rPr>
              <a:t>• 벽돌깨기의 기본 규칙은 유지</a:t>
            </a:r>
          </a:p>
          <a:p xmlns:a="http://schemas.openxmlformats.org/drawingml/2006/main">
            <a:pPr algn="l">
              <a:defRPr sz="1800" b="0">
                <a:solidFill>
                  <a:srgbClr val="FFF8EB"/>
                </a:solidFill>
              </a:defRPr>
            </a:pPr>
            <a:r>
              <a:rPr sz="1800" b="0">
                <a:solidFill>
                  <a:srgbClr val="FFF8EB"/>
                </a:solidFill>
              </a:rPr>
              <a:t>• 화면 의미는 RPG 전투로 전환</a:t>
            </a:r>
          </a:p>
          <a:p xmlns:a="http://schemas.openxmlformats.org/drawingml/2006/main">
            <a:pPr algn="l">
              <a:defRPr sz="1800" b="0">
                <a:solidFill>
                  <a:srgbClr val="FFF8EB"/>
                </a:solidFill>
              </a:defRPr>
            </a:pPr>
            <a:r>
              <a:rPr sz="1800" b="0">
                <a:solidFill>
                  <a:srgbClr val="FFF8EB"/>
                </a:solidFill>
              </a:rPr>
              <a:t>• 손오공 / 근두운 / 화염산 / 우마왕으로 컨셉 고정</a:t>
            </a:r>
          </a:p>
          <a:p xmlns:a="http://schemas.openxmlformats.org/drawingml/2006/main">
            <a:pPr algn="l">
              <a:defRPr sz="1800" b="0">
                <a:solidFill>
                  <a:srgbClr val="FFF8EB"/>
                </a:solidFill>
              </a:defRPr>
            </a:pPr>
            <a:r>
              <a:rPr sz="1800" b="0">
                <a:solidFill>
                  <a:srgbClr val="FFF8EB"/>
                </a:solidFill>
              </a:rPr>
              <a:t>• 성장 곡선은 레벨디자인 그래프로 관리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aab18e0f54ac5"/>
          <a:stretch xmlns:a="http://schemas.openxmlformats.org/drawingml/2006/main"/>
        </p:blipFill>
        <p:spPr>
          <a:xfrm xmlns:a="http://schemas.openxmlformats.org/drawingml/2006/main">
            <a:off x="7143893" y="1714500"/>
            <a:ext cx="3714464" cy="300037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7725e47cd4bef"/>
          <a:srcRect xmlns:a="http://schemas.openxmlformats.org/drawingml/2006/main" l="0" t="23509" r="0" b="23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857750"/>
            <a:ext cx="2000250" cy="138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12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2026-06-26T10:06:33.1470000Z</dcterms:created>
  <dcterms:modified xsi:type="dcterms:W3CDTF">2026-06-26T10:06:33.1470000Z</dcterms:modified>
</coreProperties>
</file>