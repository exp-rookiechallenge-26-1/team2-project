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적 전투력 (선형 증가)</c:v>
                </c:pt>
              </c:strCache>
            </c:strRef>
          </c:tx>
          <c:spPr>
            <a:solidFill>
              <a:srgbClr val="4A9FD4"/>
            </a:solidFill>
            <a:ln w="38100" cap="flat">
              <a:solidFill>
                <a:srgbClr val="4A9F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FD4"/>
              </a:solidFill>
              <a:ln w="9525" cap="flat">
                <a:solidFill>
                  <a:srgbClr val="4A9FD4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18</c:v>
                </c:pt>
                <c:pt idx="2">
                  <c:v>26</c:v>
                </c:pt>
                <c:pt idx="3">
                  <c:v>34</c:v>
                </c:pt>
                <c:pt idx="4">
                  <c:v>42</c:v>
                </c:pt>
                <c:pt idx="5">
                  <c:v>50</c:v>
                </c:pt>
                <c:pt idx="6">
                  <c:v>58</c:v>
                </c:pt>
                <c:pt idx="7">
                  <c:v>66</c:v>
                </c:pt>
                <c:pt idx="8">
                  <c:v>74</c:v>
                </c:pt>
                <c:pt idx="9">
                  <c:v>82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유저 전투력</c:v>
                </c:pt>
              </c:strCache>
            </c:strRef>
          </c:tx>
          <c:spPr>
            <a:solidFill>
              <a:srgbClr val="4EC97A"/>
            </a:solidFill>
            <a:ln w="38100" cap="flat">
              <a:solidFill>
                <a:srgbClr val="4EC97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C97A"/>
              </a:solidFill>
              <a:ln w="9525" cap="flat">
                <a:solidFill>
                  <a:srgbClr val="4EC97A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10</c:v>
                </c:pt>
                <c:pt idx="1">
                  <c:v>2</c:v>
                </c:pt>
                <c:pt idx="2">
                  <c:v>42</c:v>
                </c:pt>
                <c:pt idx="3">
                  <c:v>6</c:v>
                </c:pt>
                <c:pt idx="4">
                  <c:v>65</c:v>
                </c:pt>
                <c:pt idx="5">
                  <c:v>20</c:v>
                </c:pt>
                <c:pt idx="6">
                  <c:v>48</c:v>
                </c:pt>
                <c:pt idx="7">
                  <c:v>88</c:v>
                </c:pt>
                <c:pt idx="8">
                  <c:v>45</c:v>
                </c:pt>
                <c:pt idx="9">
                  <c:v>82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9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2A5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9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E0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A1E3F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44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1792"/>
            <a:ext cx="1836264" cy="37490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731520"/>
            <a:ext cx="1828800" cy="1828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651760"/>
            <a:ext cx="1645920" cy="16459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423160" y="1005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800" kern="0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242316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루키챌린지 2조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2423160" y="2148840"/>
            <a:ext cx="4389120" cy="22860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10" name="Text 5"/>
          <p:cNvSpPr/>
          <p:nvPr/>
        </p:nvSpPr>
        <p:spPr>
          <a:xfrm>
            <a:off x="2423160" y="23317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장르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2461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세로형 액션 롤링 게임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423160" y="27157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246120" y="27157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서유기 (西遊記)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423160" y="3099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246120" y="30998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/ Mobile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42316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소개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350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주인공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손오공이 둥글게 변신해 적을 굴러서 무찌르는 세로형 액션 게임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57984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311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 스크롤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2374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 화면에 최적화된 수직 스크롤 — 한 손으로 간편하게 플레이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54096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272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시스템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1985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경험치와 보상으로 사이즈가 커지며 강해지는 육성 요소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023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보스전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스테이지 최종 보스 '우마왕' 과의 박진감 넘치는 대결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457200"/>
            <a:ext cx="2743200" cy="4434840"/>
          </a:xfrm>
          <a:prstGeom prst="roundRect">
            <a:avLst>
              <a:gd name="adj" fmla="val 6000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96912" y="548640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713232"/>
            <a:ext cx="2560320" cy="4023360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1717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4917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타이틀 화면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8117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시작 시 타이틀 스크린을 찍어주세요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레벨 디자인 철학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303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325880"/>
            <a:ext cx="2880360" cy="1078992"/>
          </a:xfrm>
          <a:prstGeom prst="roundRect">
            <a:avLst>
              <a:gd name="adj" fmla="val 8475"/>
            </a:avLst>
          </a:prstGeom>
          <a:solidFill>
            <a:srgbClr val="2A1E3F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472184"/>
            <a:ext cx="54864" cy="749808"/>
          </a:xfrm>
          <a:prstGeom prst="rect">
            <a:avLst/>
          </a:prstGeom>
          <a:solidFill>
            <a:srgbClr val="4EC97A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성장체감 + 플레이 보상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172821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전투력 &gt; 적 구간 → 강해진 느낌, 숙련도 보상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2560320"/>
            <a:ext cx="2880360" cy="1078992"/>
          </a:xfrm>
          <a:prstGeom prst="roundRect">
            <a:avLst>
              <a:gd name="adj" fmla="val 8475"/>
            </a:avLst>
          </a:prstGeom>
          <a:solidFill>
            <a:srgbClr val="2A1E3F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706624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 구간 설계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29626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전투력 &lt; 적 구간 → 긴장감·압박, 열심히 플레이하게 만듦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3794760"/>
            <a:ext cx="2880360" cy="1078992"/>
          </a:xfrm>
          <a:prstGeom prst="roundRect">
            <a:avLst>
              <a:gd name="adj" fmla="val 8475"/>
            </a:avLst>
          </a:prstGeom>
          <a:solidFill>
            <a:srgbClr val="2A1E3F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3941064"/>
            <a:ext cx="54864" cy="749808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느껴지는 성장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419709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실패 후 더 큰 성공 — 성장의 서사를 체험하게 하는 설계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플레이어 캐릭터 - 손오공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2103120" cy="2103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대기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261872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36192"/>
            <a:ext cx="210312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공격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261872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36192"/>
            <a:ext cx="2103120" cy="2103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공격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 캐릭터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931920" cy="3547872"/>
          </a:xfrm>
          <a:prstGeom prst="roundRect">
            <a:avLst>
              <a:gd name="adj" fmla="val 3866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89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몬스터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" y="18745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103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920240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30083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64792" y="18745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10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920240"/>
            <a:ext cx="1005840" cy="10058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64792" y="30083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999232" y="18745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A103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920240"/>
            <a:ext cx="1005840" cy="10058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99232" y="30083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피격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4360" y="3200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다양한 스테이지에 배치된 일반 적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94360" y="35295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근접 공격 패턴 보유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94360" y="3858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레벨이 높을수록 체력·공격력 상승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94360" y="4187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처치 시 경험치 및 아이템 드롭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0" y="1261872"/>
            <a:ext cx="4206240" cy="3547872"/>
          </a:xfrm>
          <a:prstGeom prst="roundRect">
            <a:avLst>
              <a:gd name="adj" fmla="val 3866"/>
            </a:avLst>
          </a:prstGeom>
          <a:solidFill>
            <a:srgbClr val="2A1830"/>
          </a:solidFill>
          <a:ln w="19050">
            <a:solidFill>
              <a:srgbClr val="C9A44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5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754880" y="1389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 - 우마왕</a:t>
            </a:r>
            <a:endParaRPr lang="en-US" sz="16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810512"/>
            <a:ext cx="2148840" cy="20482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4880" y="3246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4068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우마왕 (Niu Mo Wang)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754880" y="35753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40680" y="3575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근접 / 브레스 / 범위 공격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754880" y="39044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등장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40680" y="3904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스테이지 최종 구간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754880" y="4233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440680" y="4233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스테이지 클리어 + 대량 경험치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게임 메카닉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444752"/>
            <a:ext cx="1325880" cy="1325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92808" y="1481328"/>
            <a:ext cx="164592" cy="164592"/>
          </a:xfrm>
          <a:prstGeom prst="ellipse">
            <a:avLst/>
          </a:prstGeom>
          <a:solidFill>
            <a:srgbClr val="C9A441"/>
          </a:solidFill>
          <a:ln/>
        </p:spPr>
      </p:sp>
      <p:sp>
        <p:nvSpPr>
          <p:cNvPr id="9" name="Text 6"/>
          <p:cNvSpPr/>
          <p:nvPr/>
        </p:nvSpPr>
        <p:spPr>
          <a:xfrm>
            <a:off x="2130552" y="1408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사이즈 업 / 다운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92808" y="1792224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경험치를 모으면 커짐. 커질수록 공격력·체력 증가. 피해를 받으면 다시 작아지는 긴장감.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28016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44752"/>
            <a:ext cx="1325880" cy="1325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73368" y="1481328"/>
            <a:ext cx="164592" cy="164592"/>
          </a:xfrm>
          <a:prstGeom prst="ellipse">
            <a:avLst/>
          </a:prstGeom>
          <a:solidFill>
            <a:srgbClr val="4EC97A"/>
          </a:solidFill>
          <a:ln/>
        </p:spPr>
      </p:sp>
      <p:sp>
        <p:nvSpPr>
          <p:cNvPr id="14" name="Text 10"/>
          <p:cNvSpPr/>
          <p:nvPr/>
        </p:nvSpPr>
        <p:spPr>
          <a:xfrm>
            <a:off x="6611112" y="1408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/ 아래 공격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73368" y="1792224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위(적 밀기) / 아래(적 짓누르기) 두 방향 공격. 상황에 따른 전략적 선택 필요.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315468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319272"/>
            <a:ext cx="1325880" cy="1325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892808" y="3355848"/>
            <a:ext cx="164592" cy="164592"/>
          </a:xfrm>
          <a:prstGeom prst="ellipse">
            <a:avLst/>
          </a:prstGeom>
          <a:solidFill>
            <a:srgbClr val="4A9FD4"/>
          </a:solidFill>
          <a:ln/>
        </p:spPr>
      </p:sp>
      <p:sp>
        <p:nvSpPr>
          <p:cNvPr id="19" name="Text 14"/>
          <p:cNvSpPr/>
          <p:nvPr/>
        </p:nvSpPr>
        <p:spPr>
          <a:xfrm>
            <a:off x="2130552" y="32826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클론 소환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892808" y="3666744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사용 시 클론 생성 — 함께 공격. 다수 적 대응과 보스전 화력 극대화.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00600" y="315468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319272"/>
            <a:ext cx="1325880" cy="1325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373368" y="3355848"/>
            <a:ext cx="164592" cy="164592"/>
          </a:xfrm>
          <a:prstGeom prst="ellipse">
            <a:avLst/>
          </a:prstGeom>
          <a:solidFill>
            <a:srgbClr val="2DBDBB"/>
          </a:solidFill>
          <a:ln/>
        </p:spPr>
      </p:sp>
      <p:sp>
        <p:nvSpPr>
          <p:cNvPr id="24" name="Text 18"/>
          <p:cNvSpPr/>
          <p:nvPr/>
        </p:nvSpPr>
        <p:spPr>
          <a:xfrm>
            <a:off x="6611112" y="32826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리스폰 &amp; 회복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373368" y="3666744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사망 후 리스폰 시 무적 시간. 회복 아이템으로 위기 탈출. 포기하지 않는 도전 장려.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게임플레이 스크린샷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2697480" cy="3657600"/>
          </a:xfrm>
          <a:prstGeom prst="roundRect">
            <a:avLst>
              <a:gd name="adj" fmla="val 6102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68780" y="1298448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463040"/>
            <a:ext cx="2514600" cy="3246120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5328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8529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게임화면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17296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손오공이 적들 사이를 굴러가는 기본 게임플레이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(파티클 이펙트, 배경 포함)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207008"/>
            <a:ext cx="2697480" cy="3657600"/>
          </a:xfrm>
          <a:prstGeom prst="roundRect">
            <a:avLst>
              <a:gd name="adj" fmla="val 6102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6572" y="1298448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463040"/>
            <a:ext cx="2514600" cy="3246120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5328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8529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장면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17296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적과 교전 중인 장면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이펙트가 잘 보이는 순간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99632" y="1207008"/>
            <a:ext cx="2697480" cy="3657600"/>
          </a:xfrm>
          <a:prstGeom prst="roundRect">
            <a:avLst>
              <a:gd name="adj" fmla="val 6102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84364" y="1298448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1463040"/>
            <a:ext cx="2514600" cy="3246120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5328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91072" y="28529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사이즈 업 순간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317296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손오공이 사이즈 업하는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연출이 보이는 장면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스테이지 &amp; 배경 디자인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패럴랙스 배경 (7 레이어)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822960" cy="14630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83080"/>
            <a:ext cx="822960" cy="146304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783080"/>
            <a:ext cx="822960" cy="1463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7개 레이어로 구성된 입체적 세로 배경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02920" y="38770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패럴랙스 스크롤로 원근감 표현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02920" y="41879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서유기 세계관의 신비로운 분위기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02920" y="4498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금 머리띠 장식 천장 &amp; 벽 타일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251960" y="1234440"/>
            <a:ext cx="2743200" cy="3566160"/>
          </a:xfrm>
          <a:prstGeom prst="roundRect">
            <a:avLst>
              <a:gd name="adj" fmla="val 6000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559552" y="1325880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343400" y="1490472"/>
            <a:ext cx="2560320" cy="3154680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34340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343400" y="28346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스테이지 전체 뷰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43400" y="3154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플랫폼과 배경이 모두 보이는 스테이지 전경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(벽/천장 포함)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7132320" y="1234440"/>
            <a:ext cx="1645920" cy="3566160"/>
          </a:xfrm>
          <a:prstGeom prst="roundRect">
            <a:avLst>
              <a:gd name="adj" fmla="val 10000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891272" y="1325880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223760" y="1490472"/>
            <a:ext cx="1463040" cy="3154680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223760" y="2514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223760" y="2834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벽·천장 근접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223760" y="315468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 머리띠 천장 장식과 벽 타일이 보이는 장면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 BATTLE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보스전 - 우마왕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987552"/>
            <a:ext cx="2743200" cy="2615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246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보스전 - 우마왕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3246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애니메이션 프레임 (총 22프레임)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547872"/>
            <a:ext cx="749808" cy="102412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88720" y="3547872"/>
            <a:ext cx="749808" cy="102412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03120" y="3547872"/>
            <a:ext cx="749808" cy="102412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126480" y="1234440"/>
            <a:ext cx="2743200" cy="2971800"/>
          </a:xfrm>
          <a:prstGeom prst="roundRect">
            <a:avLst>
              <a:gd name="adj" fmla="val 4000"/>
            </a:avLst>
          </a:prstGeom>
          <a:solidFill>
            <a:srgbClr val="2A1830"/>
          </a:solidFill>
          <a:ln w="19050">
            <a:solidFill>
              <a:srgbClr val="C9A44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50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626364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 INFO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291072" y="18745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022592" y="1874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우마왕 (Niu Mo Wang)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291072" y="247802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022592" y="2478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근접 / 브레스 / 범위 3종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291072" y="30815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등장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022592" y="3081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스테이지 최종 구간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291072" y="36850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022592" y="3685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클리어 + 대량 경험치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2A2040"/>
          </a:solidFill>
          <a:ln w="19050">
            <a:solidFill>
              <a:srgbClr val="C9A441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]  우마왕 HP바와 전투 이펙트가 보이는 보스전 화면을 이 자리에 삽입해주세요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 디자인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1965960" cy="1481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9626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설정바 UI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2461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인게임 설정 패널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34640" y="123444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17520" y="1371600"/>
            <a:ext cx="1965960" cy="1481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9626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족자 (세로)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34640" y="32461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서유기 테마 스크롤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303520" y="123444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0" y="1371600"/>
            <a:ext cx="1965960" cy="1481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29626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족자 (가로)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303520" y="32461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공지·다이얼로그용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3547872"/>
            <a:ext cx="4160520" cy="1298448"/>
          </a:xfrm>
          <a:prstGeom prst="roundRect">
            <a:avLst>
              <a:gd name="adj" fmla="val 12676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382012" y="3639312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803904"/>
            <a:ext cx="3977640" cy="886968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369417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401421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인게임 HUD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33425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체력바·경험치바 UI가 보이는 게임 화면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663440" y="3547872"/>
            <a:ext cx="4160520" cy="1298448"/>
          </a:xfrm>
          <a:prstGeom prst="roundRect">
            <a:avLst>
              <a:gd name="adj" fmla="val 12676"/>
            </a:avLst>
          </a:prstGeom>
          <a:solidFill>
            <a:srgbClr val="2A2040"/>
          </a:solidFill>
          <a:ln w="254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679692" y="3639312"/>
            <a:ext cx="128016" cy="91440"/>
          </a:xfrm>
          <a:prstGeom prst="ellipse">
            <a:avLst/>
          </a:prstGeom>
          <a:solidFill>
            <a:srgbClr val="1E1630"/>
          </a:solidFill>
          <a:ln w="12700">
            <a:solidFill>
              <a:srgbClr val="8A6E2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54880" y="3803904"/>
            <a:ext cx="3977640" cy="886968"/>
          </a:xfrm>
          <a:prstGeom prst="rect">
            <a:avLst/>
          </a:prstGeom>
          <a:solidFill>
            <a:srgbClr val="0A08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54880" y="369417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삽입 ]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754880" y="401421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메뉴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754880" y="433425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패널이 열린 상태 화면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7498080" y="1234440"/>
            <a:ext cx="1280160" cy="2148840"/>
          </a:xfrm>
          <a:prstGeom prst="roundRect">
            <a:avLst>
              <a:gd name="adj" fmla="val 8571"/>
            </a:avLst>
          </a:prstGeom>
          <a:solidFill>
            <a:srgbClr val="2A1E3F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7498080" y="1325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원칙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7571232" y="1664208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족자 테마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571232" y="1938528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한손 조작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571232" y="2212848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최소화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571232" y="2487168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동양 판타지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7571232" y="2761488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즉각 피드백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A44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회고 &amp; 향후 계획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572000" cy="1691640"/>
          </a:xfrm>
          <a:prstGeom prst="roundRect">
            <a:avLst>
              <a:gd name="adj" fmla="val 6486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0817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된 것들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서유기 세계관과 롤링 메카닉의 자연스러운 결합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7레이어 패럴랙스로 세로 게임 몰입감 구현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사이즈 업/다운으로 레벨 디자인 철학 구현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72968"/>
            <a:ext cx="4572000" cy="1691640"/>
          </a:xfrm>
          <a:prstGeom prst="roundRect">
            <a:avLst>
              <a:gd name="adj" fmla="val 6486"/>
            </a:avLst>
          </a:prstGeom>
          <a:solidFill>
            <a:srgbClr val="2A1E3F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28269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도전이었던 것들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6758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세로형 전투 충돌 처리 &amp; 물리 튜닝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보스 AI 패턴 다양화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37083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모바일 성능 최적화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1298448"/>
            <a:ext cx="3657600" cy="3547872"/>
          </a:xfrm>
          <a:prstGeom prst="roundRect">
            <a:avLst>
              <a:gd name="adj" fmla="val 3093"/>
            </a:avLst>
          </a:prstGeom>
          <a:solidFill>
            <a:srgbClr val="2A1E3F"/>
          </a:solidFill>
          <a:ln w="12700">
            <a:solidFill>
              <a:srgbClr val="C9A44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1435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85232" y="1920240"/>
            <a:ext cx="502920" cy="246888"/>
          </a:xfrm>
          <a:prstGeom prst="roundRect">
            <a:avLst>
              <a:gd name="adj" fmla="val 48148"/>
            </a:avLst>
          </a:prstGeom>
          <a:solidFill>
            <a:srgbClr val="4EC97A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1920240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70448" y="19202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보스 패턴 추가 및 밸런싱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70448" y="22219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사운드 및 BGM 완성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70448" y="252374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UI 애니메이션 폴리싱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85232" y="2926080"/>
            <a:ext cx="502920" cy="246888"/>
          </a:xfrm>
          <a:prstGeom prst="roundRect">
            <a:avLst>
              <a:gd name="adj" fmla="val 48148"/>
            </a:avLst>
          </a:prstGeom>
          <a:solidFill>
            <a:srgbClr val="C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5285232" y="2926080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70448" y="29260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스테이지 2-3 추가 제작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70448" y="32278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스킬 트리 / 업그레이드 시스템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0448" y="35295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랭킹·업적 시스템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85232" y="3931920"/>
            <a:ext cx="502920" cy="246888"/>
          </a:xfrm>
          <a:prstGeom prst="roundRect">
            <a:avLst>
              <a:gd name="adj" fmla="val 48148"/>
            </a:avLst>
          </a:prstGeom>
          <a:solidFill>
            <a:srgbClr val="2DBDBB"/>
          </a:solidFill>
          <a:ln/>
        </p:spPr>
      </p:sp>
      <p:sp>
        <p:nvSpPr>
          <p:cNvPr id="29" name="Text 27"/>
          <p:cNvSpPr/>
          <p:nvPr/>
        </p:nvSpPr>
        <p:spPr>
          <a:xfrm>
            <a:off x="5285232" y="3931920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70448" y="39319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iOS / Android 출시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0448" y="423367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소셜 기능 (친구 점수 비교)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70448" y="453542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시즌 업데이트 콘텐츠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9A441">
              <a:alpha val="6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C0392B">
              <a:alpha val="6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5409" y="411480"/>
            <a:ext cx="1433182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566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1200" kern="0" dirty="0">
                <a:solidFill>
                  <a:srgbClr val="C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0" y="4251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루키챌린지 2조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73552"/>
            <a:ext cx="1188720" cy="118872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680960" y="3273552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손오공 굴러가요 - 최종 발표</dc:title>
  <dc:subject>PptxGenJS Presentation</dc:subject>
  <dc:creator>PptxGenJS</dc:creator>
  <cp:lastModifiedBy>PptxGenJS</cp:lastModifiedBy>
  <cp:revision>1</cp:revision>
  <dcterms:created xsi:type="dcterms:W3CDTF">2026-06-25T21:17:07Z</dcterms:created>
  <dcterms:modified xsi:type="dcterms:W3CDTF">2026-06-25T21:17:07Z</dcterms:modified>
</cp:coreProperties>
</file>